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ricolage Grotesque" panose="020B0604020202020204" charset="0"/>
      <p:regular r:id="rId15"/>
    </p:embeddedFont>
    <p:embeddedFont>
      <p:font typeface="Bricolage Grotesque Bold" panose="020B0604020202020204" charset="0"/>
      <p:regular r:id="rId16"/>
    </p:embeddedFont>
    <p:embeddedFont>
      <p:font typeface="Canva Sans" panose="020B060402020202020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Montaser Arabic" panose="020B0604020202020204" charset="-78"/>
      <p:regular r:id="rId20"/>
    </p:embeddedFont>
    <p:embeddedFont>
      <p:font typeface="Montaser Arabic Bold" panose="020B0604020202020204" charset="-7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ienumula@outlook.com" userId="9dbd4a5ad5d3c963" providerId="LiveId" clId="{1D9D3748-09C7-4EA1-87C7-539B87A2CE3D}"/>
    <pc:docChg chg="custSel modSld">
      <pc:chgData name="anjanienumula@outlook.com" userId="9dbd4a5ad5d3c963" providerId="LiveId" clId="{1D9D3748-09C7-4EA1-87C7-539B87A2CE3D}" dt="2026-04-18T04:53:37.417" v="57" actId="20577"/>
      <pc:docMkLst>
        <pc:docMk/>
      </pc:docMkLst>
      <pc:sldChg chg="modSp mod">
        <pc:chgData name="anjanienumula@outlook.com" userId="9dbd4a5ad5d3c963" providerId="LiveId" clId="{1D9D3748-09C7-4EA1-87C7-539B87A2CE3D}" dt="2026-04-18T04:53:37.417" v="57" actId="20577"/>
        <pc:sldMkLst>
          <pc:docMk/>
          <pc:sldMk cId="0" sldId="256"/>
        </pc:sldMkLst>
        <pc:spChg chg="mod">
          <ac:chgData name="anjanienumula@outlook.com" userId="9dbd4a5ad5d3c963" providerId="LiveId" clId="{1D9D3748-09C7-4EA1-87C7-539B87A2CE3D}" dt="2026-04-18T04:53:37.417" v="57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194434" y="2235472"/>
            <a:ext cx="13899131" cy="158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300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 INTELLIGENT STROKE RISK PREDICTION AND LESION SEGMENTATION SYSTEM USING TRANSFORMER-RESNET FUSION OPTIMIZED BY AN IMPROVED SLIME MOULD 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1177" y="5772199"/>
            <a:ext cx="12459511" cy="382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4650"/>
              </a:lnSpc>
            </a:pPr>
            <a:r>
              <a:rPr lang="en-US" sz="33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Naresh Kumar Sripada – Assistant Professor</a:t>
            </a:r>
          </a:p>
          <a:p>
            <a:pPr algn="ctr">
              <a:lnSpc>
                <a:spcPts val="3810"/>
              </a:lnSpc>
            </a:pP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Eshwar Nomula-2303A52072</a:t>
            </a:r>
          </a:p>
          <a:p>
            <a:pPr algn="ctr">
              <a:lnSpc>
                <a:spcPts val="3810"/>
              </a:lnSpc>
            </a:pP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Anjani </a:t>
            </a:r>
            <a:r>
              <a:rPr lang="en-US" sz="272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Enumula</a:t>
            </a: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-2303A2419</a:t>
            </a:r>
          </a:p>
          <a:p>
            <a:pPr algn="ctr">
              <a:lnSpc>
                <a:spcPts val="3810"/>
              </a:lnSpc>
            </a:pP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Hansika </a:t>
            </a:r>
            <a:r>
              <a:rPr lang="en-US" sz="272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Vangari</a:t>
            </a: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2303A52409</a:t>
            </a:r>
          </a:p>
          <a:p>
            <a:pPr algn="ctr">
              <a:lnSpc>
                <a:spcPts val="3810"/>
              </a:lnSpc>
            </a:pPr>
            <a:r>
              <a:rPr lang="en-US" sz="272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Nagasri </a:t>
            </a:r>
            <a:r>
              <a:rPr lang="en-US" sz="272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Pingili</a:t>
            </a:r>
            <a:r>
              <a:rPr lang="en-US" sz="272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– 2303A52456</a:t>
            </a:r>
            <a:endParaRPr lang="en-US" sz="272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5210"/>
              </a:lnSpc>
              <a:spcBef>
                <a:spcPct val="0"/>
              </a:spcBef>
            </a:pPr>
            <a:endParaRPr lang="en-US" sz="272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51608" y="3480323"/>
            <a:ext cx="12184783" cy="564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672" lvl="1" indent="-312836" algn="l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Stroke is one of the leading causes of death and disability worldwide.</a:t>
            </a:r>
          </a:p>
          <a:p>
            <a:pPr marL="625672" lvl="1" indent="-312836" algn="l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Early detection can save lives and reduce long-term complications.</a:t>
            </a:r>
          </a:p>
          <a:p>
            <a:pPr marL="625672" lvl="1" indent="-312836" algn="l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systems use only clinical data or imaging data, reducing accuracy.</a:t>
            </a:r>
          </a:p>
          <a:p>
            <a:pPr marL="625672" lvl="1" indent="-312836" algn="l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invention combines both clinical data + medical images for better prediction.</a:t>
            </a:r>
          </a:p>
          <a:p>
            <a:pPr marL="625672" lvl="1" indent="-312836" algn="l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Uses Transformer + ResNet + Improved Slime Mould Algorithm for intelligent diagnosis.</a:t>
            </a:r>
          </a:p>
          <a:p>
            <a:pPr algn="l">
              <a:lnSpc>
                <a:spcPts val="4057"/>
              </a:lnSpc>
              <a:spcBef>
                <a:spcPct val="0"/>
              </a:spcBef>
            </a:pPr>
            <a:endParaRPr lang="en-US" sz="289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232167" y="866775"/>
            <a:ext cx="10911538" cy="148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INTRODUCTION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2355" y="9210675"/>
            <a:ext cx="4023291" cy="53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0519" y="1425257"/>
            <a:ext cx="11564498" cy="149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42687" y="4482245"/>
            <a:ext cx="11453456" cy="341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 stroke risk at an early stage.</a:t>
            </a:r>
          </a:p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Segment lesion areas accurately from medical images.</a:t>
            </a:r>
          </a:p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multi-modal data for improved performance.</a:t>
            </a:r>
          </a:p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 model parameters automatically.</a:t>
            </a:r>
          </a:p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hospitals and doctors in decision-making.</a:t>
            </a:r>
          </a:p>
          <a:p>
            <a:pPr marL="698604" lvl="1" indent="-349302" algn="l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 diagnosis time and increase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14030" y="1425257"/>
            <a:ext cx="11564498" cy="149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STAKEHOLDER</a:t>
            </a:r>
          </a:p>
        </p:txBody>
      </p:sp>
      <p:sp>
        <p:nvSpPr>
          <p:cNvPr id="3" name="Freeform 3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85758" y="3896931"/>
            <a:ext cx="3932515" cy="603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sz="3623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PRIMARY USERS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0491" y="4738758"/>
            <a:ext cx="6205657" cy="298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8675" lvl="1" indent="-364338" algn="l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HOSPITALS</a:t>
            </a:r>
          </a:p>
          <a:p>
            <a:pPr marL="728675" lvl="1" indent="-364338" algn="l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DIAGNOSTIC CENTERS</a:t>
            </a:r>
          </a:p>
          <a:p>
            <a:pPr marL="728675" lvl="1" indent="-364338" algn="l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NEUROLOGISTS</a:t>
            </a:r>
          </a:p>
          <a:p>
            <a:pPr marL="728675" lvl="1" indent="-364338" algn="l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RADIOLOGISTS</a:t>
            </a:r>
          </a:p>
          <a:p>
            <a:pPr marL="728675" lvl="1" indent="-364338" algn="l">
              <a:lnSpc>
                <a:spcPts val="4725"/>
              </a:lnSpc>
              <a:buFont typeface="Arial"/>
              <a:buChar char="•"/>
            </a:pPr>
            <a:r>
              <a:rPr lang="en-US" sz="33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TELEMEDICINE PLATFORMS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34" y="3887406"/>
            <a:ext cx="3397330" cy="58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375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BENEFICIARIES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05354" y="5206898"/>
            <a:ext cx="5568422" cy="205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8828" lvl="1" indent="-314414" algn="l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STROKE PATIENTS</a:t>
            </a:r>
          </a:p>
          <a:p>
            <a:pPr marL="628828" lvl="1" indent="-314414" algn="l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ELDERLY PEOPLE</a:t>
            </a:r>
          </a:p>
          <a:p>
            <a:pPr marL="628828" lvl="1" indent="-314414" algn="l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HIGH-RISK INDIVIDUALS</a:t>
            </a:r>
          </a:p>
          <a:p>
            <a:pPr marL="628828" lvl="1" indent="-314414" algn="l">
              <a:lnSpc>
                <a:spcPts val="4077"/>
              </a:lnSpc>
              <a:buFont typeface="Arial"/>
              <a:buChar char="•"/>
            </a:pPr>
            <a:r>
              <a:rPr lang="en-US" sz="291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HEALTHCARE RESEARCHERS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78880" y="1266516"/>
            <a:ext cx="11564498" cy="165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2"/>
              </a:lnSpc>
              <a:spcBef>
                <a:spcPct val="0"/>
              </a:spcBef>
            </a:pPr>
            <a:r>
              <a:rPr lang="en-US" sz="47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PROGRAMMING LANGUAGES, TOOLS &amp; SOFTWARE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2970" y="3497965"/>
            <a:ext cx="7011829" cy="581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375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PROGRAMMING LANGUAGES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6660" y="4122848"/>
            <a:ext cx="5251014" cy="102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144" lvl="1" indent="-317572" algn="l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PYTHON</a:t>
            </a:r>
          </a:p>
          <a:p>
            <a:pPr marL="635144" lvl="1" indent="-317572" algn="l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SQL (FOR DATA HANDLING)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120" y="5724525"/>
            <a:ext cx="6260279" cy="581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375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LIBRARIES / FRAMEWORKS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121" y="6572248"/>
            <a:ext cx="2995851" cy="3022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TENSORFLOW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PYTORCH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OPENCV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NUMPY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PANDAS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MATPLOTLIB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0464" y="3590040"/>
            <a:ext cx="4367536" cy="5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SOFTWARE TOOLS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25595" y="4292600"/>
            <a:ext cx="4105037" cy="201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JUPYTER NOTEBOOK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COLAB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VS CODE</a:t>
            </a:r>
          </a:p>
          <a:p>
            <a:pPr marL="620728" lvl="1" indent="-310364" algn="l">
              <a:lnSpc>
                <a:spcPts val="4025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POWERPOINT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86664" y="6896100"/>
            <a:ext cx="4367536" cy="498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5"/>
              </a:lnSpc>
              <a:spcBef>
                <a:spcPct val="0"/>
              </a:spcBef>
            </a:pPr>
            <a:r>
              <a:rPr lang="en-US" sz="2875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 SOURCES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5595" y="7591423"/>
            <a:ext cx="6419658" cy="92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162" lvl="1" indent="-289081" algn="l">
              <a:lnSpc>
                <a:spcPts val="3749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PUBLIC MEDICAL DATASETS</a:t>
            </a:r>
          </a:p>
          <a:p>
            <a:pPr marL="578162" lvl="1" indent="-289081" algn="l">
              <a:lnSpc>
                <a:spcPts val="3749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ECHOCARDIOGRAM &amp; CLINICAL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80766" y="1510982"/>
            <a:ext cx="11564498" cy="167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2"/>
              </a:lnSpc>
              <a:spcBef>
                <a:spcPct val="0"/>
              </a:spcBef>
            </a:pPr>
            <a:r>
              <a:rPr lang="en-US" sz="48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PROMPTS USED TO GENERATE CODES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062818"/>
            <a:ext cx="15868965" cy="108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CONSIDER ECHONETLVH DATASET GENERATE CODE FOR THE PATENT “AN INTELLIGENT STROKE RISK PREDICTION</a:t>
            </a:r>
          </a:p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AND LESION SEGMENTATION SYSTEM USING TRANSFORMER-RESNET FUSION OPTIMIZED BY AN IMPROVED </a:t>
            </a:r>
          </a:p>
          <a:p>
            <a:pPr algn="ctr">
              <a:lnSpc>
                <a:spcPts val="2909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SLIME MOULD ALGORITHM” ALSO GENERATE SIMULATED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7477" y="923925"/>
            <a:ext cx="11564498" cy="92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2"/>
              </a:lnSpc>
              <a:spcBef>
                <a:spcPct val="0"/>
              </a:spcBef>
            </a:pPr>
            <a:r>
              <a:rPr lang="en-US" sz="5423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FLOWCHART OF WORKFLOW</a:t>
            </a:r>
          </a:p>
        </p:txBody>
      </p:sp>
      <p:sp>
        <p:nvSpPr>
          <p:cNvPr id="3" name="Freeform 3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645995" y="2737445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7026338" y="1965021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72215" y="223079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93371" y="2445324"/>
            <a:ext cx="11301259" cy="5374323"/>
          </a:xfrm>
          <a:custGeom>
            <a:avLst/>
            <a:gdLst/>
            <a:ahLst/>
            <a:cxnLst/>
            <a:rect l="l" t="t" r="r" b="b"/>
            <a:pathLst>
              <a:path w="11301259" h="5374323">
                <a:moveTo>
                  <a:pt x="0" y="0"/>
                </a:moveTo>
                <a:lnTo>
                  <a:pt x="11301258" y="0"/>
                </a:lnTo>
                <a:lnTo>
                  <a:pt x="11301258" y="5374323"/>
                </a:lnTo>
                <a:lnTo>
                  <a:pt x="0" y="5374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0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32355" y="9214025"/>
            <a:ext cx="4023291" cy="53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77879" y="572951"/>
            <a:ext cx="10298668" cy="5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FRONT-END VIEW OF WEB/MOBILE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0627" y="775071"/>
            <a:ext cx="11564498" cy="149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2"/>
              </a:lnSpc>
              <a:spcBef>
                <a:spcPct val="0"/>
              </a:spcBef>
            </a:pPr>
            <a:r>
              <a:rPr lang="en-US" sz="43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PROOF OF PROMPTS GENERATING CODES</a:t>
            </a:r>
          </a:p>
        </p:txBody>
      </p:sp>
      <p:sp>
        <p:nvSpPr>
          <p:cNvPr id="3" name="Freeform 3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3232167"/>
            <a:ext cx="6849349" cy="2554791"/>
          </a:xfrm>
          <a:custGeom>
            <a:avLst/>
            <a:gdLst/>
            <a:ahLst/>
            <a:cxnLst/>
            <a:rect l="l" t="t" r="r" b="b"/>
            <a:pathLst>
              <a:path w="6849349" h="2554791">
                <a:moveTo>
                  <a:pt x="0" y="0"/>
                </a:moveTo>
                <a:lnTo>
                  <a:pt x="6849349" y="0"/>
                </a:lnTo>
                <a:lnTo>
                  <a:pt x="6849349" y="2554791"/>
                </a:lnTo>
                <a:lnTo>
                  <a:pt x="0" y="2554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26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20879" y="3232167"/>
            <a:ext cx="6393705" cy="2554791"/>
          </a:xfrm>
          <a:custGeom>
            <a:avLst/>
            <a:gdLst/>
            <a:ahLst/>
            <a:cxnLst/>
            <a:rect l="l" t="t" r="r" b="b"/>
            <a:pathLst>
              <a:path w="6393705" h="2554791">
                <a:moveTo>
                  <a:pt x="0" y="0"/>
                </a:moveTo>
                <a:lnTo>
                  <a:pt x="6393706" y="0"/>
                </a:lnTo>
                <a:lnTo>
                  <a:pt x="6393706" y="2554791"/>
                </a:lnTo>
                <a:lnTo>
                  <a:pt x="0" y="2554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402" r="-3379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53374" y="6101283"/>
            <a:ext cx="9310097" cy="3744263"/>
          </a:xfrm>
          <a:custGeom>
            <a:avLst/>
            <a:gdLst/>
            <a:ahLst/>
            <a:cxnLst/>
            <a:rect l="l" t="t" r="r" b="b"/>
            <a:pathLst>
              <a:path w="9310097" h="3744263">
                <a:moveTo>
                  <a:pt x="0" y="0"/>
                </a:moveTo>
                <a:lnTo>
                  <a:pt x="9310097" y="0"/>
                </a:lnTo>
                <a:lnTo>
                  <a:pt x="9310097" y="3744263"/>
                </a:lnTo>
                <a:lnTo>
                  <a:pt x="0" y="3744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43" t="-4768" r="-9464" b="-13531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97414" y="1186466"/>
            <a:ext cx="11564498" cy="1459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32"/>
              </a:lnSpc>
              <a:spcBef>
                <a:spcPct val="0"/>
              </a:spcBef>
            </a:pPr>
            <a:r>
              <a:rPr lang="en-US" sz="85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REFERENCES</a:t>
            </a:r>
          </a:p>
        </p:txBody>
      </p:sp>
      <p:sp>
        <p:nvSpPr>
          <p:cNvPr id="3" name="Freeform 3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32355" y="9214025"/>
            <a:ext cx="4023291" cy="5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67812" y="3835166"/>
            <a:ext cx="10894100" cy="446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WHO STROKE REPORTS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TENSORFLOW OFFICIAL DOCUMENTATION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PYTORCH DOCUMENTATION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RESEARCH PAPERS ON STROKE PREDICTION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TRANSFORMER NEURAL NETWORKS PAPERS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RESNET RESEARCH PAPER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SLIME MOULD OPTIMIZATION RESEARCH PAPERS</a:t>
            </a:r>
          </a:p>
          <a:p>
            <a:pPr marL="693047" lvl="1" indent="-346524" algn="l">
              <a:lnSpc>
                <a:spcPts val="4494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PUBLIC MEDICAL DATASETS (KAGGLE / UCI / NIH)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389565" y="-1196604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253649" flipH="1" flipV="1"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848121" y="7388225"/>
            <a:ext cx="6809014" cy="4114800"/>
          </a:xfrm>
          <a:custGeom>
            <a:avLst/>
            <a:gdLst/>
            <a:ahLst/>
            <a:cxnLst/>
            <a:rect l="l" t="t" r="r" b="b"/>
            <a:pathLst>
              <a:path w="6809014" h="4114800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8299">
            <a:off x="15201900" y="718439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318267" y="3740566"/>
            <a:ext cx="7166848" cy="155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53"/>
              </a:lnSpc>
              <a:spcBef>
                <a:spcPct val="0"/>
              </a:spcBef>
            </a:pPr>
            <a:r>
              <a:rPr lang="en-US" sz="9109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308</Words>
  <Application>Microsoft Office PowerPoint</Application>
  <PresentationFormat>Custom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Garet</vt:lpstr>
      <vt:lpstr>Bricolage Grotesque</vt:lpstr>
      <vt:lpstr>Montaser Arabic</vt:lpstr>
      <vt:lpstr>Calibri</vt:lpstr>
      <vt:lpstr>Bricolage Grotesque Bold</vt:lpstr>
      <vt:lpstr>Montaser Arabic Bold</vt:lpstr>
      <vt:lpstr>Canva Sans</vt:lpstr>
      <vt:lpstr>Garet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Clean Minimalist Professional Project Presentation </dc:title>
  <cp:lastModifiedBy>anjanienumula@outlook.com</cp:lastModifiedBy>
  <cp:revision>2</cp:revision>
  <dcterms:created xsi:type="dcterms:W3CDTF">2006-08-16T00:00:00Z</dcterms:created>
  <dcterms:modified xsi:type="dcterms:W3CDTF">2026-04-18T04:53:39Z</dcterms:modified>
  <dc:identifier>DAHHAOIO3EU</dc:identifier>
</cp:coreProperties>
</file>